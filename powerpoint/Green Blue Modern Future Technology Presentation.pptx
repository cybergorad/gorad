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K Modular" charset="1" panose="00000800000000000000"/>
      <p:regular r:id="rId16"/>
    </p:embeddedFont>
    <p:embeddedFont>
      <p:font typeface="Gruppo" charset="1" panose="02000604060000020004"/>
      <p:regular r:id="rId17"/>
    </p:embeddedFont>
    <p:embeddedFont>
      <p:font typeface="Raleway Light" charset="1" panose="00000000000000000000"/>
      <p:regular r:id="rId18"/>
    </p:embeddedFont>
    <p:embeddedFont>
      <p:font typeface="Raleway Bold" charset="1" panose="00000000000000000000"/>
      <p:regular r:id="rId19"/>
    </p:embeddedFont>
    <p:embeddedFont>
      <p:font typeface="Raleway"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14.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18.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jpeg" Type="http://schemas.openxmlformats.org/officeDocument/2006/relationships/image"/><Relationship Id="rId11" Target="../media/image22.jpeg" Type="http://schemas.openxmlformats.org/officeDocument/2006/relationships/image"/><Relationship Id="rId12" Target="../media/image23.jpeg" Type="http://schemas.openxmlformats.org/officeDocument/2006/relationships/image"/><Relationship Id="rId13" Target="../media/image24.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27.jpe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154235" y="-723790"/>
            <a:ext cx="3513477" cy="1884501"/>
          </a:xfrm>
          <a:custGeom>
            <a:avLst/>
            <a:gdLst/>
            <a:ahLst/>
            <a:cxnLst/>
            <a:rect r="r" b="b" t="t" l="l"/>
            <a:pathLst>
              <a:path h="1884501" w="3513477">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72862" y="2318984"/>
            <a:ext cx="3799594" cy="678844"/>
          </a:xfrm>
          <a:custGeom>
            <a:avLst/>
            <a:gdLst/>
            <a:ahLst/>
            <a:cxnLst/>
            <a:rect r="r" b="b" t="t" l="l"/>
            <a:pathLst>
              <a:path h="678844" w="3799594">
                <a:moveTo>
                  <a:pt x="0" y="0"/>
                </a:moveTo>
                <a:lnTo>
                  <a:pt x="3799594" y="0"/>
                </a:lnTo>
                <a:lnTo>
                  <a:pt x="3799594" y="678844"/>
                </a:lnTo>
                <a:lnTo>
                  <a:pt x="0" y="678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7249" y="8933667"/>
            <a:ext cx="3513477" cy="1884501"/>
          </a:xfrm>
          <a:custGeom>
            <a:avLst/>
            <a:gdLst/>
            <a:ahLst/>
            <a:cxnLst/>
            <a:rect r="r" b="b" t="t" l="l"/>
            <a:pathLst>
              <a:path h="1884501" w="3513477">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117129" y="7588707"/>
            <a:ext cx="2311059" cy="638693"/>
          </a:xfrm>
          <a:custGeom>
            <a:avLst/>
            <a:gdLst/>
            <a:ahLst/>
            <a:cxnLst/>
            <a:rect r="r" b="b" t="t" l="l"/>
            <a:pathLst>
              <a:path h="638693" w="2311059">
                <a:moveTo>
                  <a:pt x="0" y="0"/>
                </a:moveTo>
                <a:lnTo>
                  <a:pt x="2311059" y="0"/>
                </a:lnTo>
                <a:lnTo>
                  <a:pt x="2311059" y="638693"/>
                </a:lnTo>
                <a:lnTo>
                  <a:pt x="0" y="6386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670550"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542048" y="3481267"/>
            <a:ext cx="12612187" cy="2877767"/>
          </a:xfrm>
          <a:prstGeom prst="rect">
            <a:avLst/>
          </a:prstGeom>
        </p:spPr>
        <p:txBody>
          <a:bodyPr anchor="t" rtlCol="false" tIns="0" lIns="0" bIns="0" rIns="0">
            <a:spAutoFit/>
          </a:bodyPr>
          <a:lstStyle/>
          <a:p>
            <a:pPr algn="ctr">
              <a:lnSpc>
                <a:spcPts val="11242"/>
              </a:lnSpc>
            </a:pPr>
            <a:r>
              <a:rPr lang="en-US" sz="10314">
                <a:solidFill>
                  <a:srgbClr val="FFFFFF"/>
                </a:solidFill>
                <a:latin typeface="HK Modular"/>
                <a:ea typeface="HK Modular"/>
                <a:cs typeface="HK Modular"/>
                <a:sym typeface="HK Modular"/>
              </a:rPr>
              <a:t>FUTURE TECHNOLOGY</a:t>
            </a:r>
          </a:p>
        </p:txBody>
      </p:sp>
      <p:sp>
        <p:nvSpPr>
          <p:cNvPr name="TextBox 8" id="8"/>
          <p:cNvSpPr txBox="true"/>
          <p:nvPr/>
        </p:nvSpPr>
        <p:spPr>
          <a:xfrm rot="0">
            <a:off x="8550473"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9" id="9"/>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01</a:t>
            </a:r>
          </a:p>
        </p:txBody>
      </p:sp>
      <p:sp>
        <p:nvSpPr>
          <p:cNvPr name="TextBox 10" id="10"/>
          <p:cNvSpPr txBox="true"/>
          <p:nvPr/>
        </p:nvSpPr>
        <p:spPr>
          <a:xfrm rot="0">
            <a:off x="5093627" y="6759084"/>
            <a:ext cx="8100746" cy="341000"/>
          </a:xfrm>
          <a:prstGeom prst="rect">
            <a:avLst/>
          </a:prstGeom>
        </p:spPr>
        <p:txBody>
          <a:bodyPr anchor="t" rtlCol="false" tIns="0" lIns="0" bIns="0" rIns="0">
            <a:spAutoFit/>
          </a:bodyPr>
          <a:lstStyle/>
          <a:p>
            <a:pPr algn="ctr">
              <a:lnSpc>
                <a:spcPts val="2565"/>
              </a:lnSpc>
              <a:spcBef>
                <a:spcPct val="0"/>
              </a:spcBef>
            </a:pPr>
            <a:r>
              <a:rPr lang="en-US" sz="2375">
                <a:solidFill>
                  <a:srgbClr val="FFFFFF"/>
                </a:solidFill>
                <a:latin typeface="Gruppo"/>
                <a:ea typeface="Gruppo"/>
                <a:cs typeface="Gruppo"/>
                <a:sym typeface="Gruppo"/>
              </a:rPr>
              <a:t>Exploring innovations that will shape our world tomorrow.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8" id="8"/>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9" id="9"/>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0" id="10"/>
          <p:cNvSpPr txBox="true"/>
          <p:nvPr/>
        </p:nvSpPr>
        <p:spPr>
          <a:xfrm rot="0">
            <a:off x="1776071" y="3663448"/>
            <a:ext cx="8056247" cy="258942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ARTIFICIAL INTELLIGENCE EVOLUTION</a:t>
            </a:r>
          </a:p>
        </p:txBody>
      </p:sp>
      <p:sp>
        <p:nvSpPr>
          <p:cNvPr name="TextBox 11" id="11"/>
          <p:cNvSpPr txBox="true"/>
          <p:nvPr/>
        </p:nvSpPr>
        <p:spPr>
          <a:xfrm rot="0">
            <a:off x="9901384" y="3127242"/>
            <a:ext cx="6704049" cy="3728507"/>
          </a:xfrm>
          <a:prstGeom prst="rect">
            <a:avLst/>
          </a:prstGeom>
        </p:spPr>
        <p:txBody>
          <a:bodyPr anchor="t" rtlCol="false" tIns="0" lIns="0" bIns="0" rIns="0">
            <a:spAutoFit/>
          </a:bodyPr>
          <a:lstStyle/>
          <a:p>
            <a:pPr algn="l">
              <a:lnSpc>
                <a:spcPts val="2999"/>
              </a:lnSpc>
              <a:spcBef>
                <a:spcPct val="0"/>
              </a:spcBef>
            </a:pPr>
            <a:r>
              <a:rPr lang="en-US" sz="2777">
                <a:solidFill>
                  <a:srgbClr val="FFFFFF"/>
                </a:solidFill>
                <a:latin typeface="Raleway Light"/>
                <a:ea typeface="Raleway Light"/>
                <a:cs typeface="Raleway Light"/>
                <a:sym typeface="Raleway Light"/>
              </a:rPr>
              <a:t>Artificial Intelligence is rapidly advancing, bringing transformative changes across various industries. From healthcare to finance, AI is enhancing decision-making, automating tasks, and enabling machines to learn and adapt in ways that were previously unimaginable. This evolution is paving the way for smarter, more efficient systems that will redefine the way we live and work.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3497396" y="6203611"/>
            <a:ext cx="11833983" cy="2444176"/>
            <a:chOff x="0" y="0"/>
            <a:chExt cx="1833394" cy="378667"/>
          </a:xfrm>
        </p:grpSpPr>
        <p:sp>
          <p:nvSpPr>
            <p:cNvPr name="Freeform 8" id="8"/>
            <p:cNvSpPr/>
            <p:nvPr/>
          </p:nvSpPr>
          <p:spPr>
            <a:xfrm flipH="false" flipV="false" rot="0">
              <a:off x="0" y="0"/>
              <a:ext cx="1833394" cy="378667"/>
            </a:xfrm>
            <a:custGeom>
              <a:avLst/>
              <a:gdLst/>
              <a:ahLst/>
              <a:cxnLst/>
              <a:rect r="r" b="b" t="t" l="l"/>
              <a:pathLst>
                <a:path h="378667" w="1833394">
                  <a:moveTo>
                    <a:pt x="15047" y="0"/>
                  </a:moveTo>
                  <a:lnTo>
                    <a:pt x="1818347" y="0"/>
                  </a:lnTo>
                  <a:cubicBezTo>
                    <a:pt x="1826657" y="0"/>
                    <a:pt x="1833394" y="6737"/>
                    <a:pt x="1833394" y="15047"/>
                  </a:cubicBezTo>
                  <a:lnTo>
                    <a:pt x="1833394" y="363620"/>
                  </a:lnTo>
                  <a:cubicBezTo>
                    <a:pt x="1833394" y="367611"/>
                    <a:pt x="1831808" y="371438"/>
                    <a:pt x="1828987" y="374260"/>
                  </a:cubicBezTo>
                  <a:cubicBezTo>
                    <a:pt x="1826165" y="377082"/>
                    <a:pt x="1822338" y="378667"/>
                    <a:pt x="1818347" y="378667"/>
                  </a:cubicBezTo>
                  <a:lnTo>
                    <a:pt x="15047" y="378667"/>
                  </a:lnTo>
                  <a:cubicBezTo>
                    <a:pt x="11056" y="378667"/>
                    <a:pt x="7229" y="377082"/>
                    <a:pt x="4407" y="374260"/>
                  </a:cubicBezTo>
                  <a:cubicBezTo>
                    <a:pt x="1585" y="371438"/>
                    <a:pt x="0" y="367611"/>
                    <a:pt x="0" y="363620"/>
                  </a:cubicBezTo>
                  <a:lnTo>
                    <a:pt x="0" y="15047"/>
                  </a:lnTo>
                  <a:cubicBezTo>
                    <a:pt x="0" y="11056"/>
                    <a:pt x="1585" y="7229"/>
                    <a:pt x="4407" y="4407"/>
                  </a:cubicBezTo>
                  <a:cubicBezTo>
                    <a:pt x="7229" y="1585"/>
                    <a:pt x="11056" y="0"/>
                    <a:pt x="15047" y="0"/>
                  </a:cubicBezTo>
                  <a:close/>
                </a:path>
              </a:pathLst>
            </a:custGeom>
            <a:blipFill>
              <a:blip r:embed="rId10"/>
              <a:stretch>
                <a:fillRect l="0" t="-86172" r="0" b="-86172"/>
              </a:stretch>
            </a:blipFill>
            <a:ln w="38100" cap="rnd">
              <a:solidFill>
                <a:srgbClr val="9FCDFF"/>
              </a:solidFill>
              <a:prstDash val="solid"/>
              <a:round/>
            </a:ln>
          </p:spPr>
        </p:sp>
      </p:gr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11" id="11"/>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12" id="12"/>
          <p:cNvSpPr txBox="true"/>
          <p:nvPr/>
        </p:nvSpPr>
        <p:spPr>
          <a:xfrm rot="0">
            <a:off x="4003523" y="2235401"/>
            <a:ext cx="11028326"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QUANTUM COMPUTING</a:t>
            </a:r>
          </a:p>
        </p:txBody>
      </p:sp>
      <p:sp>
        <p:nvSpPr>
          <p:cNvPr name="TextBox 13" id="13"/>
          <p:cNvSpPr txBox="true"/>
          <p:nvPr/>
        </p:nvSpPr>
        <p:spPr>
          <a:xfrm rot="0">
            <a:off x="2655994" y="3594274"/>
            <a:ext cx="13441159" cy="2242607"/>
          </a:xfrm>
          <a:prstGeom prst="rect">
            <a:avLst/>
          </a:prstGeom>
        </p:spPr>
        <p:txBody>
          <a:bodyPr anchor="t" rtlCol="false" tIns="0" lIns="0" bIns="0" rIns="0">
            <a:spAutoFit/>
          </a:bodyPr>
          <a:lstStyle/>
          <a:p>
            <a:pPr algn="ctr">
              <a:lnSpc>
                <a:spcPts val="2999"/>
              </a:lnSpc>
              <a:spcBef>
                <a:spcPct val="0"/>
              </a:spcBef>
            </a:pPr>
            <a:r>
              <a:rPr lang="en-US" sz="2777">
                <a:solidFill>
                  <a:srgbClr val="FFFFFF"/>
                </a:solidFill>
                <a:latin typeface="Raleway Light"/>
                <a:ea typeface="Raleway Light"/>
                <a:cs typeface="Raleway Light"/>
                <a:sym typeface="Raleway Light"/>
              </a:rPr>
              <a:t>Quantum computing represents a leap forward in computational power, harnessing the principles of quantum mechanics to perform complex calculations at unprecedented speeds. Unlike classical computers, which use bits as the basic unit of information, quantum computers use qubits, allowing them to process vast amounts of data simultaneously. This breakthrough could revolutionize fields like cryptography, material science, and artificial intelligence.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675052" y="3381068"/>
            <a:ext cx="6903652" cy="4606619"/>
          </a:xfrm>
          <a:custGeom>
            <a:avLst/>
            <a:gdLst/>
            <a:ahLst/>
            <a:cxnLst/>
            <a:rect r="r" b="b" t="t" l="l"/>
            <a:pathLst>
              <a:path h="4606619" w="6903652">
                <a:moveTo>
                  <a:pt x="0" y="0"/>
                </a:moveTo>
                <a:lnTo>
                  <a:pt x="6903653" y="0"/>
                </a:lnTo>
                <a:lnTo>
                  <a:pt x="6903653" y="4606619"/>
                </a:lnTo>
                <a:lnTo>
                  <a:pt x="0" y="46066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2032728" y="4182416"/>
            <a:ext cx="6526927" cy="2730483"/>
            <a:chOff x="0" y="0"/>
            <a:chExt cx="1011192" cy="423023"/>
          </a:xfrm>
        </p:grpSpPr>
        <p:sp>
          <p:nvSpPr>
            <p:cNvPr name="Freeform 9" id="9"/>
            <p:cNvSpPr/>
            <p:nvPr/>
          </p:nvSpPr>
          <p:spPr>
            <a:xfrm flipH="false" flipV="false" rot="0">
              <a:off x="0" y="0"/>
              <a:ext cx="1011192" cy="423023"/>
            </a:xfrm>
            <a:custGeom>
              <a:avLst/>
              <a:gdLst/>
              <a:ahLst/>
              <a:cxnLst/>
              <a:rect r="r" b="b" t="t" l="l"/>
              <a:pathLst>
                <a:path h="423023" w="1011192">
                  <a:moveTo>
                    <a:pt x="0" y="0"/>
                  </a:moveTo>
                  <a:lnTo>
                    <a:pt x="1011192" y="0"/>
                  </a:lnTo>
                  <a:lnTo>
                    <a:pt x="1011192" y="423023"/>
                  </a:lnTo>
                  <a:lnTo>
                    <a:pt x="0" y="423023"/>
                  </a:lnTo>
                  <a:close/>
                </a:path>
              </a:pathLst>
            </a:custGeom>
            <a:blipFill>
              <a:blip r:embed="rId12"/>
              <a:stretch>
                <a:fillRect l="0" t="-21" r="0" b="-59437"/>
              </a:stretch>
            </a:blipFill>
          </p:spPr>
        </p:sp>
      </p:grpSp>
      <p:sp>
        <p:nvSpPr>
          <p:cNvPr name="TextBox 10" id="10"/>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1" id="11"/>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12" id="12"/>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3" id="13"/>
          <p:cNvSpPr txBox="true"/>
          <p:nvPr/>
        </p:nvSpPr>
        <p:spPr>
          <a:xfrm rot="0">
            <a:off x="1776071" y="2237866"/>
            <a:ext cx="6802634" cy="86080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5G NETWORKS</a:t>
            </a:r>
          </a:p>
        </p:txBody>
      </p:sp>
      <p:sp>
        <p:nvSpPr>
          <p:cNvPr name="TextBox 14" id="14"/>
          <p:cNvSpPr txBox="true"/>
          <p:nvPr/>
        </p:nvSpPr>
        <p:spPr>
          <a:xfrm rot="0">
            <a:off x="9901384" y="3127242"/>
            <a:ext cx="6704049" cy="4099982"/>
          </a:xfrm>
          <a:prstGeom prst="rect">
            <a:avLst/>
          </a:prstGeom>
        </p:spPr>
        <p:txBody>
          <a:bodyPr anchor="t" rtlCol="false" tIns="0" lIns="0" bIns="0" rIns="0">
            <a:spAutoFit/>
          </a:bodyPr>
          <a:lstStyle/>
          <a:p>
            <a:pPr algn="l">
              <a:lnSpc>
                <a:spcPts val="2999"/>
              </a:lnSpc>
              <a:spcBef>
                <a:spcPct val="0"/>
              </a:spcBef>
            </a:pPr>
            <a:r>
              <a:rPr lang="en-US" sz="2777">
                <a:solidFill>
                  <a:srgbClr val="FFFFFF"/>
                </a:solidFill>
                <a:latin typeface="Raleway Light"/>
                <a:ea typeface="Raleway Light"/>
                <a:cs typeface="Raleway Light"/>
                <a:sym typeface="Raleway Light"/>
              </a:rPr>
              <a:t>The deployment of 5G networks is revolutionizing how we connect and communicate. With significantly faster data speeds, lower latency, and the capacity to support a massive number of connected devices, 5G is enabling new applications like smart cities, autonomous vehicles, and advanced IoT (Internet of Things) solutions. This technology is laying the foundation for a more connected and efficient world.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a:grpSpLocks noChangeAspect="true"/>
          </p:cNvGrpSpPr>
          <p:nvPr/>
        </p:nvGrpSpPr>
        <p:grpSpPr>
          <a:xfrm rot="0">
            <a:off x="1877397" y="2102106"/>
            <a:ext cx="6205782" cy="6205782"/>
            <a:chOff x="0" y="0"/>
            <a:chExt cx="14840029" cy="14840029"/>
          </a:xfrm>
        </p:grpSpPr>
        <p:sp>
          <p:nvSpPr>
            <p:cNvPr name="Freeform 8" id="8"/>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99FFFF"/>
            </a:solidFill>
          </p:spPr>
        </p:sp>
        <p:sp>
          <p:nvSpPr>
            <p:cNvPr name="Freeform 9" id="9"/>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0" id="10"/>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0"/>
              <a:stretch>
                <a:fillRect l="-32961" t="0" r="-32961" b="0"/>
              </a:stretch>
            </a:blipFill>
          </p:spPr>
        </p:sp>
      </p:grpSp>
      <p:sp>
        <p:nvSpPr>
          <p:cNvPr name="TextBox 11" id="11"/>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2" id="12"/>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13" id="13"/>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05</a:t>
            </a:r>
          </a:p>
        </p:txBody>
      </p:sp>
      <p:sp>
        <p:nvSpPr>
          <p:cNvPr name="TextBox 14" id="14"/>
          <p:cNvSpPr txBox="true"/>
          <p:nvPr/>
        </p:nvSpPr>
        <p:spPr>
          <a:xfrm rot="0">
            <a:off x="8573343" y="2064006"/>
            <a:ext cx="6458505" cy="172511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AUTONOMOUS VEHICLES</a:t>
            </a:r>
          </a:p>
        </p:txBody>
      </p:sp>
      <p:sp>
        <p:nvSpPr>
          <p:cNvPr name="TextBox 15" id="15"/>
          <p:cNvSpPr txBox="true"/>
          <p:nvPr/>
        </p:nvSpPr>
        <p:spPr>
          <a:xfrm rot="0">
            <a:off x="8573343" y="4095726"/>
            <a:ext cx="6704049" cy="4099982"/>
          </a:xfrm>
          <a:prstGeom prst="rect">
            <a:avLst/>
          </a:prstGeom>
        </p:spPr>
        <p:txBody>
          <a:bodyPr anchor="t" rtlCol="false" tIns="0" lIns="0" bIns="0" rIns="0">
            <a:spAutoFit/>
          </a:bodyPr>
          <a:lstStyle/>
          <a:p>
            <a:pPr algn="l">
              <a:lnSpc>
                <a:spcPts val="2999"/>
              </a:lnSpc>
              <a:spcBef>
                <a:spcPct val="0"/>
              </a:spcBef>
            </a:pPr>
            <a:r>
              <a:rPr lang="en-US" sz="2777">
                <a:solidFill>
                  <a:srgbClr val="FFFFFF"/>
                </a:solidFill>
                <a:latin typeface="Raleway Light"/>
                <a:ea typeface="Raleway Light"/>
                <a:cs typeface="Raleway Light"/>
                <a:sym typeface="Raleway Light"/>
              </a:rPr>
              <a:t>Autonomous vehicles, or self-driving cars, are set to transform the transportation industry. By leveraging advanced sensors, AI, and real-time data, these vehicles can navigate roads with minimal human intervention. The adoption of autonomous vehicles promises to enhance road safety, reduce traffic congestion, and provide greater mobility options, particularly for those who are unable to drive.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327485" y="367603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982326" y="3413023"/>
            <a:ext cx="1347336" cy="1503304"/>
          </a:xfrm>
          <a:custGeom>
            <a:avLst/>
            <a:gdLst/>
            <a:ahLst/>
            <a:cxnLst/>
            <a:rect r="r" b="b" t="t" l="l"/>
            <a:pathLst>
              <a:path h="1503304" w="1347336">
                <a:moveTo>
                  <a:pt x="0" y="0"/>
                </a:moveTo>
                <a:lnTo>
                  <a:pt x="1347336" y="0"/>
                </a:lnTo>
                <a:lnTo>
                  <a:pt x="1347336" y="1503303"/>
                </a:lnTo>
                <a:lnTo>
                  <a:pt x="0" y="1503303"/>
                </a:lnTo>
                <a:lnTo>
                  <a:pt x="0" y="0"/>
                </a:lnTo>
                <a:close/>
              </a:path>
            </a:pathLst>
          </a:custGeom>
          <a:blipFill>
            <a:blip r:embed="rId12"/>
            <a:stretch>
              <a:fillRect l="0" t="0" r="0" b="0"/>
            </a:stretch>
          </a:blipFill>
        </p:spPr>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11" id="11"/>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06</a:t>
            </a:r>
          </a:p>
        </p:txBody>
      </p:sp>
      <p:sp>
        <p:nvSpPr>
          <p:cNvPr name="TextBox 12" id="12"/>
          <p:cNvSpPr txBox="true"/>
          <p:nvPr/>
        </p:nvSpPr>
        <p:spPr>
          <a:xfrm rot="0">
            <a:off x="5421917" y="2025881"/>
            <a:ext cx="8134270"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SMART CITIES</a:t>
            </a:r>
          </a:p>
        </p:txBody>
      </p:sp>
      <p:sp>
        <p:nvSpPr>
          <p:cNvPr name="TextBox 13" id="13"/>
          <p:cNvSpPr txBox="true"/>
          <p:nvPr/>
        </p:nvSpPr>
        <p:spPr>
          <a:xfrm rot="0">
            <a:off x="3377582" y="4386793"/>
            <a:ext cx="2254952"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Energy Efficiency</a:t>
            </a:r>
          </a:p>
        </p:txBody>
      </p:sp>
      <p:sp>
        <p:nvSpPr>
          <p:cNvPr name="TextBox 14" id="14"/>
          <p:cNvSpPr txBox="true"/>
          <p:nvPr/>
        </p:nvSpPr>
        <p:spPr>
          <a:xfrm rot="0">
            <a:off x="3033453" y="5460678"/>
            <a:ext cx="3063384" cy="1312586"/>
          </a:xfrm>
          <a:prstGeom prst="rect">
            <a:avLst/>
          </a:prstGeom>
        </p:spPr>
        <p:txBody>
          <a:bodyPr anchor="t" rtlCol="false" tIns="0" lIns="0" bIns="0" rIns="0">
            <a:spAutoFit/>
          </a:bodyPr>
          <a:lstStyle/>
          <a:p>
            <a:pPr algn="ctr">
              <a:lnSpc>
                <a:spcPts val="2567"/>
              </a:lnSpc>
              <a:spcBef>
                <a:spcPct val="0"/>
              </a:spcBef>
            </a:pPr>
            <a:r>
              <a:rPr lang="en-US" sz="2377">
                <a:solidFill>
                  <a:srgbClr val="FFFFFF"/>
                </a:solidFill>
                <a:latin typeface="Raleway"/>
                <a:ea typeface="Raleway"/>
                <a:cs typeface="Raleway"/>
                <a:sym typeface="Raleway"/>
              </a:rPr>
              <a:t>Optimizing energy use through smart grids and sustainable infrastructure.</a:t>
            </a:r>
          </a:p>
        </p:txBody>
      </p:sp>
      <p:sp>
        <p:nvSpPr>
          <p:cNvPr name="TextBox 15" id="15"/>
          <p:cNvSpPr txBox="true"/>
          <p:nvPr/>
        </p:nvSpPr>
        <p:spPr>
          <a:xfrm rot="0">
            <a:off x="2351662" y="3761150"/>
            <a:ext cx="681791" cy="597068"/>
          </a:xfrm>
          <a:prstGeom prst="rect">
            <a:avLst/>
          </a:prstGeom>
        </p:spPr>
        <p:txBody>
          <a:bodyPr anchor="t" rtlCol="false" tIns="0" lIns="0" bIns="0" rIns="0">
            <a:spAutoFit/>
          </a:bodyPr>
          <a:lstStyle/>
          <a:p>
            <a:pPr algn="ctr">
              <a:lnSpc>
                <a:spcPts val="4511"/>
              </a:lnSpc>
              <a:spcBef>
                <a:spcPct val="0"/>
              </a:spcBef>
            </a:pPr>
            <a:r>
              <a:rPr lang="en-US" b="true" sz="4177">
                <a:solidFill>
                  <a:srgbClr val="FFFFFF"/>
                </a:solidFill>
                <a:latin typeface="Raleway Bold"/>
                <a:ea typeface="Raleway Bold"/>
                <a:cs typeface="Raleway Bold"/>
                <a:sym typeface="Raleway Bold"/>
              </a:rPr>
              <a:t>1.</a:t>
            </a:r>
          </a:p>
        </p:txBody>
      </p:sp>
      <p:sp>
        <p:nvSpPr>
          <p:cNvPr name="Freeform 16" id="16"/>
          <p:cNvSpPr/>
          <p:nvPr/>
        </p:nvSpPr>
        <p:spPr>
          <a:xfrm flipH="false" flipV="false" rot="0">
            <a:off x="7777119" y="367603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431960" y="3413023"/>
            <a:ext cx="1347336" cy="1503304"/>
          </a:xfrm>
          <a:custGeom>
            <a:avLst/>
            <a:gdLst/>
            <a:ahLst/>
            <a:cxnLst/>
            <a:rect r="r" b="b" t="t" l="l"/>
            <a:pathLst>
              <a:path h="1503304" w="1347336">
                <a:moveTo>
                  <a:pt x="0" y="0"/>
                </a:moveTo>
                <a:lnTo>
                  <a:pt x="1347335" y="0"/>
                </a:lnTo>
                <a:lnTo>
                  <a:pt x="1347335" y="1503303"/>
                </a:lnTo>
                <a:lnTo>
                  <a:pt x="0" y="1503303"/>
                </a:lnTo>
                <a:lnTo>
                  <a:pt x="0" y="0"/>
                </a:lnTo>
                <a:close/>
              </a:path>
            </a:pathLst>
          </a:custGeom>
          <a:blipFill>
            <a:blip r:embed="rId12"/>
            <a:stretch>
              <a:fillRect l="0" t="0" r="0" b="0"/>
            </a:stretch>
          </a:blipFill>
        </p:spPr>
      </p:sp>
      <p:sp>
        <p:nvSpPr>
          <p:cNvPr name="TextBox 18" id="18"/>
          <p:cNvSpPr txBox="true"/>
          <p:nvPr/>
        </p:nvSpPr>
        <p:spPr>
          <a:xfrm rot="0">
            <a:off x="8567754" y="4386793"/>
            <a:ext cx="2894049"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Public Transportation</a:t>
            </a:r>
          </a:p>
        </p:txBody>
      </p:sp>
      <p:sp>
        <p:nvSpPr>
          <p:cNvPr name="TextBox 19" id="19"/>
          <p:cNvSpPr txBox="true"/>
          <p:nvPr/>
        </p:nvSpPr>
        <p:spPr>
          <a:xfrm rot="0">
            <a:off x="8483087" y="5460678"/>
            <a:ext cx="3063384" cy="1312586"/>
          </a:xfrm>
          <a:prstGeom prst="rect">
            <a:avLst/>
          </a:prstGeom>
        </p:spPr>
        <p:txBody>
          <a:bodyPr anchor="t" rtlCol="false" tIns="0" lIns="0" bIns="0" rIns="0">
            <a:spAutoFit/>
          </a:bodyPr>
          <a:lstStyle/>
          <a:p>
            <a:pPr algn="ctr">
              <a:lnSpc>
                <a:spcPts val="2567"/>
              </a:lnSpc>
              <a:spcBef>
                <a:spcPct val="0"/>
              </a:spcBef>
            </a:pPr>
            <a:r>
              <a:rPr lang="en-US" sz="2377">
                <a:solidFill>
                  <a:srgbClr val="FFFFFF"/>
                </a:solidFill>
                <a:latin typeface="Raleway"/>
                <a:ea typeface="Raleway"/>
                <a:cs typeface="Raleway"/>
                <a:sym typeface="Raleway"/>
              </a:rPr>
              <a:t>Enhancing transit systems with real-time data and autonomous vehicles.</a:t>
            </a:r>
          </a:p>
        </p:txBody>
      </p:sp>
      <p:sp>
        <p:nvSpPr>
          <p:cNvPr name="TextBox 20" id="20"/>
          <p:cNvSpPr txBox="true"/>
          <p:nvPr/>
        </p:nvSpPr>
        <p:spPr>
          <a:xfrm rot="0">
            <a:off x="7801296" y="3761150"/>
            <a:ext cx="681791" cy="597068"/>
          </a:xfrm>
          <a:prstGeom prst="rect">
            <a:avLst/>
          </a:prstGeom>
        </p:spPr>
        <p:txBody>
          <a:bodyPr anchor="t" rtlCol="false" tIns="0" lIns="0" bIns="0" rIns="0">
            <a:spAutoFit/>
          </a:bodyPr>
          <a:lstStyle/>
          <a:p>
            <a:pPr algn="ctr">
              <a:lnSpc>
                <a:spcPts val="4511"/>
              </a:lnSpc>
              <a:spcBef>
                <a:spcPct val="0"/>
              </a:spcBef>
            </a:pPr>
            <a:r>
              <a:rPr lang="en-US" b="true" sz="4177">
                <a:solidFill>
                  <a:srgbClr val="FFFFFF"/>
                </a:solidFill>
                <a:latin typeface="Raleway Bold"/>
                <a:ea typeface="Raleway Bold"/>
                <a:cs typeface="Raleway Bold"/>
                <a:sym typeface="Raleway Bold"/>
              </a:rPr>
              <a:t>2.</a:t>
            </a:r>
          </a:p>
        </p:txBody>
      </p:sp>
      <p:sp>
        <p:nvSpPr>
          <p:cNvPr name="Freeform 21" id="21"/>
          <p:cNvSpPr/>
          <p:nvPr/>
        </p:nvSpPr>
        <p:spPr>
          <a:xfrm flipH="false" flipV="false" rot="0">
            <a:off x="13227678" y="367603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2882519" y="3413023"/>
            <a:ext cx="1347336" cy="1503304"/>
          </a:xfrm>
          <a:custGeom>
            <a:avLst/>
            <a:gdLst/>
            <a:ahLst/>
            <a:cxnLst/>
            <a:rect r="r" b="b" t="t" l="l"/>
            <a:pathLst>
              <a:path h="1503304" w="1347336">
                <a:moveTo>
                  <a:pt x="0" y="0"/>
                </a:moveTo>
                <a:lnTo>
                  <a:pt x="1347336" y="0"/>
                </a:lnTo>
                <a:lnTo>
                  <a:pt x="1347336" y="1503303"/>
                </a:lnTo>
                <a:lnTo>
                  <a:pt x="0" y="1503303"/>
                </a:lnTo>
                <a:lnTo>
                  <a:pt x="0" y="0"/>
                </a:lnTo>
                <a:close/>
              </a:path>
            </a:pathLst>
          </a:custGeom>
          <a:blipFill>
            <a:blip r:embed="rId12"/>
            <a:stretch>
              <a:fillRect l="0" t="0" r="0" b="0"/>
            </a:stretch>
          </a:blipFill>
        </p:spPr>
      </p:sp>
      <p:sp>
        <p:nvSpPr>
          <p:cNvPr name="TextBox 23" id="23"/>
          <p:cNvSpPr txBox="true"/>
          <p:nvPr/>
        </p:nvSpPr>
        <p:spPr>
          <a:xfrm rot="0">
            <a:off x="14043713" y="4386793"/>
            <a:ext cx="2561721"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Waste Management</a:t>
            </a:r>
          </a:p>
        </p:txBody>
      </p:sp>
      <p:sp>
        <p:nvSpPr>
          <p:cNvPr name="TextBox 24" id="24"/>
          <p:cNvSpPr txBox="true"/>
          <p:nvPr/>
        </p:nvSpPr>
        <p:spPr>
          <a:xfrm rot="0">
            <a:off x="13933646" y="5460678"/>
            <a:ext cx="3063384" cy="1312586"/>
          </a:xfrm>
          <a:prstGeom prst="rect">
            <a:avLst/>
          </a:prstGeom>
        </p:spPr>
        <p:txBody>
          <a:bodyPr anchor="t" rtlCol="false" tIns="0" lIns="0" bIns="0" rIns="0">
            <a:spAutoFit/>
          </a:bodyPr>
          <a:lstStyle/>
          <a:p>
            <a:pPr algn="ctr">
              <a:lnSpc>
                <a:spcPts val="2567"/>
              </a:lnSpc>
              <a:spcBef>
                <a:spcPct val="0"/>
              </a:spcBef>
            </a:pPr>
            <a:r>
              <a:rPr lang="en-US" sz="2377">
                <a:solidFill>
                  <a:srgbClr val="FFFFFF"/>
                </a:solidFill>
                <a:latin typeface="Raleway"/>
                <a:ea typeface="Raleway"/>
                <a:cs typeface="Raleway"/>
                <a:sym typeface="Raleway"/>
              </a:rPr>
              <a:t>Implementing smart waste collection and recycling systems for cleaner cities.</a:t>
            </a:r>
          </a:p>
        </p:txBody>
      </p:sp>
      <p:sp>
        <p:nvSpPr>
          <p:cNvPr name="TextBox 25" id="25"/>
          <p:cNvSpPr txBox="true"/>
          <p:nvPr/>
        </p:nvSpPr>
        <p:spPr>
          <a:xfrm rot="0">
            <a:off x="13251855" y="3761150"/>
            <a:ext cx="681791" cy="597068"/>
          </a:xfrm>
          <a:prstGeom prst="rect">
            <a:avLst/>
          </a:prstGeom>
        </p:spPr>
        <p:txBody>
          <a:bodyPr anchor="t" rtlCol="false" tIns="0" lIns="0" bIns="0" rIns="0">
            <a:spAutoFit/>
          </a:bodyPr>
          <a:lstStyle/>
          <a:p>
            <a:pPr algn="ctr">
              <a:lnSpc>
                <a:spcPts val="4511"/>
              </a:lnSpc>
              <a:spcBef>
                <a:spcPct val="0"/>
              </a:spcBef>
            </a:pPr>
            <a:r>
              <a:rPr lang="en-US" b="true" sz="4177">
                <a:solidFill>
                  <a:srgbClr val="FFFFFF"/>
                </a:solidFill>
                <a:latin typeface="Raleway Bold"/>
                <a:ea typeface="Raleway Bold"/>
                <a:cs typeface="Raleway Bold"/>
                <a:sym typeface="Raleway Bold"/>
              </a:rPr>
              <a:t>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76071" y="3120832"/>
            <a:ext cx="984533" cy="1566814"/>
          </a:xfrm>
          <a:custGeom>
            <a:avLst/>
            <a:gdLst/>
            <a:ahLst/>
            <a:cxnLst/>
            <a:rect r="r" b="b" t="t" l="l"/>
            <a:pathLst>
              <a:path h="1566814" w="984533">
                <a:moveTo>
                  <a:pt x="0" y="0"/>
                </a:moveTo>
                <a:lnTo>
                  <a:pt x="984533" y="0"/>
                </a:lnTo>
                <a:lnTo>
                  <a:pt x="984533" y="1566814"/>
                </a:lnTo>
                <a:lnTo>
                  <a:pt x="0" y="15668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9" id="9"/>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10" id="10"/>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07</a:t>
            </a:r>
          </a:p>
        </p:txBody>
      </p:sp>
      <p:sp>
        <p:nvSpPr>
          <p:cNvPr name="TextBox 11" id="11"/>
          <p:cNvSpPr txBox="true"/>
          <p:nvPr/>
        </p:nvSpPr>
        <p:spPr>
          <a:xfrm rot="0">
            <a:off x="1880681" y="4649546"/>
            <a:ext cx="5799109" cy="1730042"/>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RENEWABLE ENERGY</a:t>
            </a:r>
          </a:p>
        </p:txBody>
      </p:sp>
      <p:sp>
        <p:nvSpPr>
          <p:cNvPr name="TextBox 12" id="12"/>
          <p:cNvSpPr txBox="true"/>
          <p:nvPr/>
        </p:nvSpPr>
        <p:spPr>
          <a:xfrm rot="0">
            <a:off x="9603522" y="2942503"/>
            <a:ext cx="2254952" cy="385232"/>
          </a:xfrm>
          <a:prstGeom prst="rect">
            <a:avLst/>
          </a:prstGeom>
        </p:spPr>
        <p:txBody>
          <a:bodyPr anchor="t" rtlCol="false" tIns="0" lIns="0" bIns="0" rIns="0">
            <a:spAutoFit/>
          </a:bodyPr>
          <a:lstStyle/>
          <a:p>
            <a:pPr algn="l">
              <a:lnSpc>
                <a:spcPts val="2999"/>
              </a:lnSpc>
              <a:spcBef>
                <a:spcPct val="0"/>
              </a:spcBef>
            </a:pPr>
            <a:r>
              <a:rPr lang="en-US" b="true" sz="2777">
                <a:solidFill>
                  <a:srgbClr val="FFFFFF"/>
                </a:solidFill>
                <a:latin typeface="Raleway Bold"/>
                <a:ea typeface="Raleway Bold"/>
                <a:cs typeface="Raleway Bold"/>
                <a:sym typeface="Raleway Bold"/>
              </a:rPr>
              <a:t>Solar Power</a:t>
            </a:r>
          </a:p>
        </p:txBody>
      </p:sp>
      <p:sp>
        <p:nvSpPr>
          <p:cNvPr name="TextBox 13" id="13"/>
          <p:cNvSpPr txBox="true"/>
          <p:nvPr/>
        </p:nvSpPr>
        <p:spPr>
          <a:xfrm rot="0">
            <a:off x="9603522" y="3643843"/>
            <a:ext cx="7001911" cy="1499657"/>
          </a:xfrm>
          <a:prstGeom prst="rect">
            <a:avLst/>
          </a:prstGeom>
        </p:spPr>
        <p:txBody>
          <a:bodyPr anchor="t" rtlCol="false" tIns="0" lIns="0" bIns="0" rIns="0">
            <a:spAutoFit/>
          </a:bodyPr>
          <a:lstStyle/>
          <a:p>
            <a:pPr algn="l">
              <a:lnSpc>
                <a:spcPts val="2999"/>
              </a:lnSpc>
              <a:spcBef>
                <a:spcPct val="0"/>
              </a:spcBef>
            </a:pPr>
            <a:r>
              <a:rPr lang="en-US" sz="2777">
                <a:solidFill>
                  <a:srgbClr val="FFFFFF"/>
                </a:solidFill>
                <a:latin typeface="Raleway"/>
                <a:ea typeface="Raleway"/>
                <a:cs typeface="Raleway"/>
                <a:sym typeface="Raleway"/>
              </a:rPr>
              <a:t>Utilizing photovoltaic panels to convert sunlight into electricity, providing a clean and renewable energy source that reduces carbon emissions.</a:t>
            </a:r>
          </a:p>
        </p:txBody>
      </p:sp>
      <p:sp>
        <p:nvSpPr>
          <p:cNvPr name="Freeform 14" id="14"/>
          <p:cNvSpPr/>
          <p:nvPr/>
        </p:nvSpPr>
        <p:spPr>
          <a:xfrm flipH="false" flipV="false" rot="0">
            <a:off x="8474051" y="2688468"/>
            <a:ext cx="830645" cy="926800"/>
          </a:xfrm>
          <a:custGeom>
            <a:avLst/>
            <a:gdLst/>
            <a:ahLst/>
            <a:cxnLst/>
            <a:rect r="r" b="b" t="t" l="l"/>
            <a:pathLst>
              <a:path h="926800" w="830645">
                <a:moveTo>
                  <a:pt x="0" y="0"/>
                </a:moveTo>
                <a:lnTo>
                  <a:pt x="830645" y="0"/>
                </a:lnTo>
                <a:lnTo>
                  <a:pt x="830645" y="926800"/>
                </a:lnTo>
                <a:lnTo>
                  <a:pt x="0" y="926800"/>
                </a:lnTo>
                <a:lnTo>
                  <a:pt x="0" y="0"/>
                </a:lnTo>
                <a:close/>
              </a:path>
            </a:pathLst>
          </a:custGeom>
          <a:blipFill>
            <a:blip r:embed="rId12"/>
            <a:stretch>
              <a:fillRect l="0" t="0" r="0" b="0"/>
            </a:stretch>
          </a:blipFill>
        </p:spPr>
      </p:sp>
      <p:sp>
        <p:nvSpPr>
          <p:cNvPr name="TextBox 15" id="15"/>
          <p:cNvSpPr txBox="true"/>
          <p:nvPr/>
        </p:nvSpPr>
        <p:spPr>
          <a:xfrm rot="0">
            <a:off x="8701750" y="2908178"/>
            <a:ext cx="420330" cy="363011"/>
          </a:xfrm>
          <a:prstGeom prst="rect">
            <a:avLst/>
          </a:prstGeom>
        </p:spPr>
        <p:txBody>
          <a:bodyPr anchor="t" rtlCol="false" tIns="0" lIns="0" bIns="0" rIns="0">
            <a:spAutoFit/>
          </a:bodyPr>
          <a:lstStyle/>
          <a:p>
            <a:pPr algn="ctr">
              <a:lnSpc>
                <a:spcPts val="2781"/>
              </a:lnSpc>
              <a:spcBef>
                <a:spcPct val="0"/>
              </a:spcBef>
            </a:pPr>
            <a:r>
              <a:rPr lang="en-US" b="true" sz="2575">
                <a:solidFill>
                  <a:srgbClr val="FFFFFF"/>
                </a:solidFill>
                <a:latin typeface="Raleway Bold"/>
                <a:ea typeface="Raleway Bold"/>
                <a:cs typeface="Raleway Bold"/>
                <a:sym typeface="Raleway Bold"/>
              </a:rPr>
              <a:t>1.</a:t>
            </a:r>
          </a:p>
        </p:txBody>
      </p:sp>
      <p:sp>
        <p:nvSpPr>
          <p:cNvPr name="TextBox 16" id="16"/>
          <p:cNvSpPr txBox="true"/>
          <p:nvPr/>
        </p:nvSpPr>
        <p:spPr>
          <a:xfrm rot="0">
            <a:off x="9603522" y="5951177"/>
            <a:ext cx="3500956" cy="385232"/>
          </a:xfrm>
          <a:prstGeom prst="rect">
            <a:avLst/>
          </a:prstGeom>
        </p:spPr>
        <p:txBody>
          <a:bodyPr anchor="t" rtlCol="false" tIns="0" lIns="0" bIns="0" rIns="0">
            <a:spAutoFit/>
          </a:bodyPr>
          <a:lstStyle/>
          <a:p>
            <a:pPr algn="l">
              <a:lnSpc>
                <a:spcPts val="2999"/>
              </a:lnSpc>
              <a:spcBef>
                <a:spcPct val="0"/>
              </a:spcBef>
            </a:pPr>
            <a:r>
              <a:rPr lang="en-US" b="true" sz="2777">
                <a:solidFill>
                  <a:srgbClr val="FFFFFF"/>
                </a:solidFill>
                <a:latin typeface="Raleway Bold"/>
                <a:ea typeface="Raleway Bold"/>
                <a:cs typeface="Raleway Bold"/>
                <a:sym typeface="Raleway Bold"/>
              </a:rPr>
              <a:t>Wind Turbines</a:t>
            </a:r>
          </a:p>
        </p:txBody>
      </p:sp>
      <p:sp>
        <p:nvSpPr>
          <p:cNvPr name="TextBox 17" id="17"/>
          <p:cNvSpPr txBox="true"/>
          <p:nvPr/>
        </p:nvSpPr>
        <p:spPr>
          <a:xfrm rot="0">
            <a:off x="9603522" y="6652517"/>
            <a:ext cx="7001911" cy="1499657"/>
          </a:xfrm>
          <a:prstGeom prst="rect">
            <a:avLst/>
          </a:prstGeom>
        </p:spPr>
        <p:txBody>
          <a:bodyPr anchor="t" rtlCol="false" tIns="0" lIns="0" bIns="0" rIns="0">
            <a:spAutoFit/>
          </a:bodyPr>
          <a:lstStyle/>
          <a:p>
            <a:pPr algn="l">
              <a:lnSpc>
                <a:spcPts val="2999"/>
              </a:lnSpc>
              <a:spcBef>
                <a:spcPct val="0"/>
              </a:spcBef>
            </a:pPr>
            <a:r>
              <a:rPr lang="en-US" sz="2777">
                <a:solidFill>
                  <a:srgbClr val="FFFFFF"/>
                </a:solidFill>
                <a:latin typeface="Raleway"/>
                <a:ea typeface="Raleway"/>
                <a:cs typeface="Raleway"/>
                <a:sym typeface="Raleway"/>
              </a:rPr>
              <a:t>Capturing wind energy through large turbines to generate electricity, contributing to a sustainable energy mix and decreasing reliance on fossil fuels.</a:t>
            </a:r>
          </a:p>
        </p:txBody>
      </p:sp>
      <p:sp>
        <p:nvSpPr>
          <p:cNvPr name="Freeform 18" id="18"/>
          <p:cNvSpPr/>
          <p:nvPr/>
        </p:nvSpPr>
        <p:spPr>
          <a:xfrm flipH="false" flipV="false" rot="0">
            <a:off x="8474051" y="5697141"/>
            <a:ext cx="830645" cy="926800"/>
          </a:xfrm>
          <a:custGeom>
            <a:avLst/>
            <a:gdLst/>
            <a:ahLst/>
            <a:cxnLst/>
            <a:rect r="r" b="b" t="t" l="l"/>
            <a:pathLst>
              <a:path h="926800" w="830645">
                <a:moveTo>
                  <a:pt x="0" y="0"/>
                </a:moveTo>
                <a:lnTo>
                  <a:pt x="830645" y="0"/>
                </a:lnTo>
                <a:lnTo>
                  <a:pt x="830645" y="926801"/>
                </a:lnTo>
                <a:lnTo>
                  <a:pt x="0" y="926801"/>
                </a:lnTo>
                <a:lnTo>
                  <a:pt x="0" y="0"/>
                </a:lnTo>
                <a:close/>
              </a:path>
            </a:pathLst>
          </a:custGeom>
          <a:blipFill>
            <a:blip r:embed="rId12"/>
            <a:stretch>
              <a:fillRect l="0" t="0" r="0" b="0"/>
            </a:stretch>
          </a:blipFill>
        </p:spPr>
      </p:sp>
      <p:sp>
        <p:nvSpPr>
          <p:cNvPr name="TextBox 19" id="19"/>
          <p:cNvSpPr txBox="true"/>
          <p:nvPr/>
        </p:nvSpPr>
        <p:spPr>
          <a:xfrm rot="0">
            <a:off x="8701750" y="5916851"/>
            <a:ext cx="420330" cy="363011"/>
          </a:xfrm>
          <a:prstGeom prst="rect">
            <a:avLst/>
          </a:prstGeom>
        </p:spPr>
        <p:txBody>
          <a:bodyPr anchor="t" rtlCol="false" tIns="0" lIns="0" bIns="0" rIns="0">
            <a:spAutoFit/>
          </a:bodyPr>
          <a:lstStyle/>
          <a:p>
            <a:pPr algn="ctr">
              <a:lnSpc>
                <a:spcPts val="2781"/>
              </a:lnSpc>
              <a:spcBef>
                <a:spcPct val="0"/>
              </a:spcBef>
            </a:pPr>
            <a:r>
              <a:rPr lang="en-US" b="true" sz="2575">
                <a:solidFill>
                  <a:srgbClr val="FFFFFF"/>
                </a:solidFill>
                <a:latin typeface="Raleway Bold"/>
                <a:ea typeface="Raleway Bold"/>
                <a:cs typeface="Raleway Bold"/>
                <a:sym typeface="Raleway Bold"/>
              </a:rPr>
              <a:t>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8" id="8"/>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9" id="9"/>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06</a:t>
            </a:r>
          </a:p>
        </p:txBody>
      </p:sp>
      <p:sp>
        <p:nvSpPr>
          <p:cNvPr name="TextBox 10" id="10"/>
          <p:cNvSpPr txBox="true"/>
          <p:nvPr/>
        </p:nvSpPr>
        <p:spPr>
          <a:xfrm rot="0">
            <a:off x="3435211" y="2025881"/>
            <a:ext cx="11417579"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VIRTUAL REALITY</a:t>
            </a:r>
          </a:p>
        </p:txBody>
      </p:sp>
      <p:sp>
        <p:nvSpPr>
          <p:cNvPr name="TextBox 11" id="11"/>
          <p:cNvSpPr txBox="true"/>
          <p:nvPr/>
        </p:nvSpPr>
        <p:spPr>
          <a:xfrm rot="0">
            <a:off x="2655994" y="6014935"/>
            <a:ext cx="13890004" cy="1871132"/>
          </a:xfrm>
          <a:prstGeom prst="rect">
            <a:avLst/>
          </a:prstGeom>
        </p:spPr>
        <p:txBody>
          <a:bodyPr anchor="t" rtlCol="false" tIns="0" lIns="0" bIns="0" rIns="0">
            <a:spAutoFit/>
          </a:bodyPr>
          <a:lstStyle/>
          <a:p>
            <a:pPr algn="ctr">
              <a:lnSpc>
                <a:spcPts val="2999"/>
              </a:lnSpc>
              <a:spcBef>
                <a:spcPct val="0"/>
              </a:spcBef>
            </a:pPr>
            <a:r>
              <a:rPr lang="en-US" sz="2777">
                <a:solidFill>
                  <a:srgbClr val="FFFFFF"/>
                </a:solidFill>
                <a:latin typeface="Raleway Light"/>
                <a:ea typeface="Raleway Light"/>
                <a:cs typeface="Raleway Light"/>
                <a:sym typeface="Raleway Light"/>
              </a:rPr>
              <a:t>Virtual Reality (VR) is extending its reach beyond gaming into areas like education, healthcare, and entertainment. By creating immersive, interactive experiences, VR has the potential to revolutionize how we learn, train, and even treat medical conditions. As the technology continues to improve, VR is expected to become an integral part of various industries, offering new ways to engage and experience the world.</a:t>
            </a:r>
          </a:p>
        </p:txBody>
      </p:sp>
      <p:grpSp>
        <p:nvGrpSpPr>
          <p:cNvPr name="Group 12" id="12"/>
          <p:cNvGrpSpPr>
            <a:grpSpLocks noChangeAspect="true"/>
          </p:cNvGrpSpPr>
          <p:nvPr/>
        </p:nvGrpSpPr>
        <p:grpSpPr>
          <a:xfrm rot="0">
            <a:off x="3704410" y="3217197"/>
            <a:ext cx="2441114" cy="2441114"/>
            <a:chOff x="0" y="0"/>
            <a:chExt cx="14840029" cy="14840029"/>
          </a:xfrm>
        </p:grpSpPr>
        <p:sp>
          <p:nvSpPr>
            <p:cNvPr name="Freeform 13" id="13"/>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sp>
        <p:sp>
          <p:nvSpPr>
            <p:cNvPr name="Freeform 14" id="14"/>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sp>
        <p:sp>
          <p:nvSpPr>
            <p:cNvPr name="Freeform 15" id="15"/>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0"/>
              <a:stretch>
                <a:fillRect l="-24665" t="0" r="-24665" b="0"/>
              </a:stretch>
            </a:blipFill>
          </p:spPr>
        </p:sp>
      </p:grpSp>
      <p:grpSp>
        <p:nvGrpSpPr>
          <p:cNvPr name="Group 16" id="16"/>
          <p:cNvGrpSpPr>
            <a:grpSpLocks noChangeAspect="true"/>
          </p:cNvGrpSpPr>
          <p:nvPr/>
        </p:nvGrpSpPr>
        <p:grpSpPr>
          <a:xfrm rot="0">
            <a:off x="6553290" y="3217197"/>
            <a:ext cx="2441114" cy="2441114"/>
            <a:chOff x="0" y="0"/>
            <a:chExt cx="14840029" cy="14840029"/>
          </a:xfrm>
        </p:grpSpPr>
        <p:sp>
          <p:nvSpPr>
            <p:cNvPr name="Freeform 17" id="17"/>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sp>
        <p:sp>
          <p:nvSpPr>
            <p:cNvPr name="Freeform 18" id="18"/>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sp>
        <p:sp>
          <p:nvSpPr>
            <p:cNvPr name="Freeform 19" id="19"/>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1"/>
              <a:stretch>
                <a:fillRect l="-24712" t="0" r="-24712" b="0"/>
              </a:stretch>
            </a:blipFill>
          </p:spPr>
        </p:sp>
      </p:grpSp>
      <p:grpSp>
        <p:nvGrpSpPr>
          <p:cNvPr name="Group 20" id="20"/>
          <p:cNvGrpSpPr>
            <a:grpSpLocks noChangeAspect="true"/>
          </p:cNvGrpSpPr>
          <p:nvPr/>
        </p:nvGrpSpPr>
        <p:grpSpPr>
          <a:xfrm rot="0">
            <a:off x="9398121" y="3217197"/>
            <a:ext cx="2441114" cy="2441114"/>
            <a:chOff x="0" y="0"/>
            <a:chExt cx="14840029" cy="14840029"/>
          </a:xfrm>
        </p:grpSpPr>
        <p:sp>
          <p:nvSpPr>
            <p:cNvPr name="Freeform 21" id="21"/>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sp>
        <p:sp>
          <p:nvSpPr>
            <p:cNvPr name="Freeform 22" id="22"/>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sp>
        <p:sp>
          <p:nvSpPr>
            <p:cNvPr name="Freeform 23" id="23"/>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2"/>
              <a:stretch>
                <a:fillRect l="-24712" t="0" r="-24712" b="0"/>
              </a:stretch>
            </a:blipFill>
          </p:spPr>
        </p:sp>
      </p:grpSp>
      <p:grpSp>
        <p:nvGrpSpPr>
          <p:cNvPr name="Group 24" id="24"/>
          <p:cNvGrpSpPr>
            <a:grpSpLocks noChangeAspect="true"/>
          </p:cNvGrpSpPr>
          <p:nvPr/>
        </p:nvGrpSpPr>
        <p:grpSpPr>
          <a:xfrm rot="0">
            <a:off x="12411676" y="3217197"/>
            <a:ext cx="2441114" cy="2441114"/>
            <a:chOff x="0" y="0"/>
            <a:chExt cx="14840029" cy="14840029"/>
          </a:xfrm>
        </p:grpSpPr>
        <p:sp>
          <p:nvSpPr>
            <p:cNvPr name="Freeform 25" id="25"/>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sp>
        <p:sp>
          <p:nvSpPr>
            <p:cNvPr name="Freeform 26" id="26"/>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sp>
        <p:sp>
          <p:nvSpPr>
            <p:cNvPr name="Freeform 27" id="27"/>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3"/>
              <a:stretch>
                <a:fillRect l="-24712" t="0" r="-24712"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006462" y="2345931"/>
            <a:ext cx="3598971" cy="5754169"/>
          </a:xfrm>
          <a:custGeom>
            <a:avLst/>
            <a:gdLst/>
            <a:ahLst/>
            <a:cxnLst/>
            <a:rect r="r" b="b" t="t" l="l"/>
            <a:pathLst>
              <a:path h="5754169" w="3598971">
                <a:moveTo>
                  <a:pt x="0" y="0"/>
                </a:moveTo>
                <a:lnTo>
                  <a:pt x="3598971" y="0"/>
                </a:lnTo>
                <a:lnTo>
                  <a:pt x="3598971" y="5754169"/>
                </a:lnTo>
                <a:lnTo>
                  <a:pt x="0" y="57541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9" id="9"/>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10" id="10"/>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06</a:t>
            </a:r>
          </a:p>
        </p:txBody>
      </p:sp>
      <p:sp>
        <p:nvSpPr>
          <p:cNvPr name="TextBox 11" id="11"/>
          <p:cNvSpPr txBox="true"/>
          <p:nvPr/>
        </p:nvSpPr>
        <p:spPr>
          <a:xfrm rot="0">
            <a:off x="1776071" y="2789195"/>
            <a:ext cx="8134270" cy="1730042"/>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SPACE EXPLORATION</a:t>
            </a:r>
          </a:p>
        </p:txBody>
      </p:sp>
      <p:sp>
        <p:nvSpPr>
          <p:cNvPr name="TextBox 12" id="12"/>
          <p:cNvSpPr txBox="true"/>
          <p:nvPr/>
        </p:nvSpPr>
        <p:spPr>
          <a:xfrm rot="0">
            <a:off x="1776071" y="4982240"/>
            <a:ext cx="10422130" cy="2985557"/>
          </a:xfrm>
          <a:prstGeom prst="rect">
            <a:avLst/>
          </a:prstGeom>
        </p:spPr>
        <p:txBody>
          <a:bodyPr anchor="t" rtlCol="false" tIns="0" lIns="0" bIns="0" rIns="0">
            <a:spAutoFit/>
          </a:bodyPr>
          <a:lstStyle/>
          <a:p>
            <a:pPr algn="l">
              <a:lnSpc>
                <a:spcPts val="2999"/>
              </a:lnSpc>
              <a:spcBef>
                <a:spcPct val="0"/>
              </a:spcBef>
            </a:pPr>
            <a:r>
              <a:rPr lang="en-US" sz="2777">
                <a:solidFill>
                  <a:srgbClr val="FFFFFF"/>
                </a:solidFill>
                <a:latin typeface="Raleway Light"/>
                <a:ea typeface="Raleway Light"/>
                <a:cs typeface="Raleway Light"/>
                <a:sym typeface="Raleway Light"/>
              </a:rPr>
              <a:t>Space exploration is entering a new era, driven by advances in technology and a renewed interest in reaching beyond our planet. From ambitious missions to Mars to the development of space tourism, these efforts are expanding our understanding of the universe and pushing the boundaries of what humanity can achieve. The future of space exploration holds the promise of new discoveries and the potential for human settlement on other planets.</a:t>
            </a:r>
          </a:p>
        </p:txBody>
      </p:sp>
      <p:grpSp>
        <p:nvGrpSpPr>
          <p:cNvPr name="Group 13" id="13"/>
          <p:cNvGrpSpPr>
            <a:grpSpLocks noChangeAspect="true"/>
          </p:cNvGrpSpPr>
          <p:nvPr/>
        </p:nvGrpSpPr>
        <p:grpSpPr>
          <a:xfrm rot="0">
            <a:off x="12873687" y="3291828"/>
            <a:ext cx="3965809" cy="3965809"/>
            <a:chOff x="0" y="0"/>
            <a:chExt cx="14840029" cy="14840029"/>
          </a:xfrm>
        </p:grpSpPr>
        <p:sp>
          <p:nvSpPr>
            <p:cNvPr name="Freeform 14" id="14"/>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2F2F2"/>
            </a:solidFill>
          </p:spPr>
        </p:sp>
        <p:sp>
          <p:nvSpPr>
            <p:cNvPr name="Freeform 15" id="15"/>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00FFFF"/>
            </a:solidFill>
          </p:spPr>
        </p:sp>
        <p:sp>
          <p:nvSpPr>
            <p:cNvPr name="Freeform 16" id="16"/>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12"/>
              <a:stretch>
                <a:fillRect l="-38492" t="0" r="-38492"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04396" y="9014517"/>
            <a:ext cx="4454904" cy="406385"/>
          </a:xfrm>
          <a:custGeom>
            <a:avLst/>
            <a:gdLst/>
            <a:ahLst/>
            <a:cxnLst/>
            <a:rect r="r" b="b" t="t" l="l"/>
            <a:pathLst>
              <a:path h="406385" w="4454904">
                <a:moveTo>
                  <a:pt x="0" y="0"/>
                </a:moveTo>
                <a:lnTo>
                  <a:pt x="4454904" y="0"/>
                </a:lnTo>
                <a:lnTo>
                  <a:pt x="4454904" y="406385"/>
                </a:lnTo>
                <a:lnTo>
                  <a:pt x="0" y="4063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8" id="8"/>
          <p:cNvSpPr txBox="true"/>
          <p:nvPr/>
        </p:nvSpPr>
        <p:spPr>
          <a:xfrm rot="0">
            <a:off x="13458263" y="9073308"/>
            <a:ext cx="3147170" cy="298328"/>
          </a:xfrm>
          <a:prstGeom prst="rect">
            <a:avLst/>
          </a:prstGeom>
        </p:spPr>
        <p:txBody>
          <a:bodyPr anchor="t" rtlCol="false" tIns="0" lIns="0" bIns="0" rIns="0">
            <a:spAutoFit/>
          </a:bodyPr>
          <a:lstStyle/>
          <a:p>
            <a:pPr algn="ctr">
              <a:lnSpc>
                <a:spcPts val="2241"/>
              </a:lnSpc>
              <a:spcBef>
                <a:spcPct val="0"/>
              </a:spcBef>
            </a:pPr>
            <a:r>
              <a:rPr lang="en-US" sz="2075">
                <a:solidFill>
                  <a:srgbClr val="00FFFF"/>
                </a:solidFill>
                <a:latin typeface="Gruppo"/>
                <a:ea typeface="Gruppo"/>
                <a:cs typeface="Gruppo"/>
                <a:sym typeface="Gruppo"/>
              </a:rPr>
              <a:t>www.reallygreatsite.com</a:t>
            </a:r>
          </a:p>
        </p:txBody>
      </p:sp>
      <p:sp>
        <p:nvSpPr>
          <p:cNvPr name="TextBox 9" id="9"/>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10</a:t>
            </a:r>
          </a:p>
        </p:txBody>
      </p:sp>
      <p:sp>
        <p:nvSpPr>
          <p:cNvPr name="TextBox 10" id="10"/>
          <p:cNvSpPr txBox="true"/>
          <p:nvPr/>
        </p:nvSpPr>
        <p:spPr>
          <a:xfrm rot="0">
            <a:off x="3818141" y="3648280"/>
            <a:ext cx="11183517" cy="1495220"/>
          </a:xfrm>
          <a:prstGeom prst="rect">
            <a:avLst/>
          </a:prstGeom>
        </p:spPr>
        <p:txBody>
          <a:bodyPr anchor="t" rtlCol="false" tIns="0" lIns="0" bIns="0" rIns="0">
            <a:spAutoFit/>
          </a:bodyPr>
          <a:lstStyle/>
          <a:p>
            <a:pPr algn="ctr">
              <a:lnSpc>
                <a:spcPts val="11911"/>
              </a:lnSpc>
            </a:pPr>
            <a:r>
              <a:rPr lang="en-US" sz="9453">
                <a:solidFill>
                  <a:srgbClr val="FFFFFF"/>
                </a:solidFill>
                <a:latin typeface="HK Modular"/>
                <a:ea typeface="HK Modular"/>
                <a:cs typeface="HK Modular"/>
                <a:sym typeface="HK Modular"/>
              </a:rPr>
              <a:t>THANK YOU!</a:t>
            </a:r>
          </a:p>
        </p:txBody>
      </p:sp>
      <p:sp>
        <p:nvSpPr>
          <p:cNvPr name="TextBox 11" id="11"/>
          <p:cNvSpPr txBox="true"/>
          <p:nvPr/>
        </p:nvSpPr>
        <p:spPr>
          <a:xfrm rot="0">
            <a:off x="3818141" y="5623010"/>
            <a:ext cx="10916976" cy="756707"/>
          </a:xfrm>
          <a:prstGeom prst="rect">
            <a:avLst/>
          </a:prstGeom>
        </p:spPr>
        <p:txBody>
          <a:bodyPr anchor="t" rtlCol="false" tIns="0" lIns="0" bIns="0" rIns="0">
            <a:spAutoFit/>
          </a:bodyPr>
          <a:lstStyle/>
          <a:p>
            <a:pPr algn="ctr">
              <a:lnSpc>
                <a:spcPts val="2999"/>
              </a:lnSpc>
              <a:spcBef>
                <a:spcPct val="0"/>
              </a:spcBef>
            </a:pPr>
            <a:r>
              <a:rPr lang="en-US" sz="2777">
                <a:solidFill>
                  <a:srgbClr val="FFFFFF"/>
                </a:solidFill>
                <a:latin typeface="Raleway"/>
                <a:ea typeface="Raleway"/>
                <a:cs typeface="Raleway"/>
                <a:sym typeface="Raleway"/>
              </a:rPr>
              <a:t>As we look to the future, these technologies will play a crucial role in shaping a better world for generations to 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DAGr5xrKXKA</dc:identifier>
  <dcterms:modified xsi:type="dcterms:W3CDTF">2011-08-01T06:04:30Z</dcterms:modified>
  <cp:revision>1</cp:revision>
  <dc:title>Green Blue Modern Future Technology Presentation</dc:title>
</cp:coreProperties>
</file>